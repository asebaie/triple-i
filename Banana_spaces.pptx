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 Medium" charset="1" panose="00000600000000000000"/>
      <p:regular r:id="rId11"/>
    </p:embeddedFont>
    <p:embeddedFont>
      <p:font typeface="Aileron Italics" charset="1" panose="00000500000000000000"/>
      <p:regular r:id="rId12"/>
    </p:embeddedFont>
    <p:embeddedFont>
      <p:font typeface="Open Sauce Bold" charset="1" panose="00000800000000000000"/>
      <p:regular r:id="rId13"/>
    </p:embeddedFont>
    <p:embeddedFont>
      <p:font typeface="Bricolage Grotesque Bold" charset="1" panose="020B0605040402000204"/>
      <p:regular r:id="rId14"/>
    </p:embeddedFont>
    <p:embeddedFont>
      <p:font typeface="Aileron Bold" charset="1" panose="00000800000000000000"/>
      <p:regular r:id="rId15"/>
    </p:embeddedFont>
    <p:embeddedFont>
      <p:font typeface="Aileron Bold Italics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084" y="1901879"/>
            <a:ext cx="17969833" cy="488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6"/>
              </a:lnSpc>
            </a:pPr>
            <a:r>
              <a:rPr lang="en-US" b="true" sz="40132" spc="-1805">
                <a:solidFill>
                  <a:srgbClr val="EFEFEF">
                    <a:alpha val="82745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Banana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412990" y="4505829"/>
            <a:ext cx="19141667" cy="2379468"/>
            <a:chOff x="0" y="0"/>
            <a:chExt cx="5570263" cy="692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70263" cy="692430"/>
            </a:xfrm>
            <a:custGeom>
              <a:avLst/>
              <a:gdLst/>
              <a:ahLst/>
              <a:cxnLst/>
              <a:rect r="r" b="b" t="t" l="l"/>
              <a:pathLst>
                <a:path h="692430" w="5570263">
                  <a:moveTo>
                    <a:pt x="0" y="0"/>
                  </a:moveTo>
                  <a:lnTo>
                    <a:pt x="5570263" y="0"/>
                  </a:lnTo>
                  <a:lnTo>
                    <a:pt x="5570263" y="692430"/>
                  </a:lnTo>
                  <a:lnTo>
                    <a:pt x="0" y="692430"/>
                  </a:ln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570263" cy="692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sp>
        <p:nvSpPr>
          <p:cNvPr name="Freeform 28" id="28"/>
          <p:cNvSpPr/>
          <p:nvPr/>
        </p:nvSpPr>
        <p:spPr>
          <a:xfrm flipH="false" flipV="false" rot="78547">
            <a:off x="6293944" y="8675511"/>
            <a:ext cx="6695363" cy="3038021"/>
          </a:xfrm>
          <a:custGeom>
            <a:avLst/>
            <a:gdLst/>
            <a:ahLst/>
            <a:cxnLst/>
            <a:rect r="r" b="b" t="t" l="l"/>
            <a:pathLst>
              <a:path h="3038021" w="6695363">
                <a:moveTo>
                  <a:pt x="0" y="0"/>
                </a:moveTo>
                <a:lnTo>
                  <a:pt x="6695363" y="0"/>
                </a:lnTo>
                <a:lnTo>
                  <a:pt x="6695363" y="3038021"/>
                </a:lnTo>
                <a:lnTo>
                  <a:pt x="0" y="3038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78547">
            <a:off x="4146723" y="6488549"/>
            <a:ext cx="9234906" cy="4190339"/>
          </a:xfrm>
          <a:custGeom>
            <a:avLst/>
            <a:gdLst/>
            <a:ahLst/>
            <a:cxnLst/>
            <a:rect r="r" b="b" t="t" l="l"/>
            <a:pathLst>
              <a:path h="4190339" w="9234906">
                <a:moveTo>
                  <a:pt x="0" y="0"/>
                </a:moveTo>
                <a:lnTo>
                  <a:pt x="9234907" y="0"/>
                </a:lnTo>
                <a:lnTo>
                  <a:pt x="9234907" y="4190339"/>
                </a:lnTo>
                <a:lnTo>
                  <a:pt x="0" y="4190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78547">
            <a:off x="4935471" y="5371913"/>
            <a:ext cx="6980611" cy="3167452"/>
          </a:xfrm>
          <a:custGeom>
            <a:avLst/>
            <a:gdLst/>
            <a:ahLst/>
            <a:cxnLst/>
            <a:rect r="r" b="b" t="t" l="l"/>
            <a:pathLst>
              <a:path h="3167452" w="6980611">
                <a:moveTo>
                  <a:pt x="0" y="0"/>
                </a:moveTo>
                <a:lnTo>
                  <a:pt x="6980611" y="0"/>
                </a:lnTo>
                <a:lnTo>
                  <a:pt x="6980611" y="3167452"/>
                </a:lnTo>
                <a:lnTo>
                  <a:pt x="0" y="3167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6250622"/>
            <a:ext cx="4116478" cy="939246"/>
            <a:chOff x="0" y="0"/>
            <a:chExt cx="1781149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81149" cy="406400"/>
            </a:xfrm>
            <a:custGeom>
              <a:avLst/>
              <a:gdLst/>
              <a:ahLst/>
              <a:cxnLst/>
              <a:rect r="r" b="b" t="t" l="l"/>
              <a:pathLst>
                <a:path h="406400" w="1781149">
                  <a:moveTo>
                    <a:pt x="1577949" y="0"/>
                  </a:moveTo>
                  <a:cubicBezTo>
                    <a:pt x="1690173" y="0"/>
                    <a:pt x="1781149" y="90976"/>
                    <a:pt x="1781149" y="203200"/>
                  </a:cubicBezTo>
                  <a:cubicBezTo>
                    <a:pt x="1781149" y="315424"/>
                    <a:pt x="1690173" y="406400"/>
                    <a:pt x="15779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0"/>
                  </a:srgbClr>
                </a:gs>
                <a:gs pos="20000">
                  <a:srgbClr val="0F062D">
                    <a:alpha val="38000"/>
                  </a:srgbClr>
                </a:gs>
                <a:gs pos="40000">
                  <a:srgbClr val="0F062D">
                    <a:alpha val="62000"/>
                  </a:srgbClr>
                </a:gs>
                <a:gs pos="60000">
                  <a:srgbClr val="0F062D">
                    <a:alpha val="84000"/>
                  </a:srgbClr>
                </a:gs>
                <a:gs pos="80000">
                  <a:srgbClr val="0F062D">
                    <a:alpha val="100000"/>
                  </a:srgbClr>
                </a:gs>
                <a:gs pos="100000">
                  <a:srgbClr val="0F062D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78114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53770" y="6250622"/>
            <a:ext cx="7278431" cy="939246"/>
            <a:chOff x="0" y="0"/>
            <a:chExt cx="3149287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49287" cy="406400"/>
            </a:xfrm>
            <a:custGeom>
              <a:avLst/>
              <a:gdLst/>
              <a:ahLst/>
              <a:cxnLst/>
              <a:rect r="r" b="b" t="t" l="l"/>
              <a:pathLst>
                <a:path h="406400" w="3149287">
                  <a:moveTo>
                    <a:pt x="2946087" y="0"/>
                  </a:moveTo>
                  <a:cubicBezTo>
                    <a:pt x="3058311" y="0"/>
                    <a:pt x="3149287" y="90976"/>
                    <a:pt x="3149287" y="203200"/>
                  </a:cubicBezTo>
                  <a:cubicBezTo>
                    <a:pt x="3149287" y="315424"/>
                    <a:pt x="3058311" y="406400"/>
                    <a:pt x="29460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F062D">
                    <a:alpha val="100000"/>
                  </a:srgbClr>
                </a:gs>
                <a:gs pos="20000">
                  <a:srgbClr val="0F062D">
                    <a:alpha val="100000"/>
                  </a:srgbClr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14928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18343" y="6523671"/>
            <a:ext cx="3737193" cy="51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b="true" sz="4209" spc="-1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R&amp;D Assistant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21703" y="677716"/>
            <a:ext cx="29317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4-5 июля, 2026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996281" y="6507429"/>
            <a:ext cx="7193409" cy="51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</a:pPr>
            <a:r>
              <a:rPr lang="en-US" b="true" sz="4209" spc="-189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Норникель AI Science Hack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984537" y="505729"/>
            <a:ext cx="466757" cy="578475"/>
          </a:xfrm>
          <a:custGeom>
            <a:avLst/>
            <a:gdLst/>
            <a:ahLst/>
            <a:cxnLst/>
            <a:rect r="r" b="b" t="t" l="l"/>
            <a:pathLst>
              <a:path h="578475" w="466757">
                <a:moveTo>
                  <a:pt x="0" y="0"/>
                </a:moveTo>
                <a:lnTo>
                  <a:pt x="466757" y="0"/>
                </a:lnTo>
                <a:lnTo>
                  <a:pt x="466757" y="578475"/>
                </a:lnTo>
                <a:lnTo>
                  <a:pt x="0" y="57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93450" y="-318232"/>
            <a:ext cx="18674901" cy="7378284"/>
            <a:chOff x="0" y="0"/>
            <a:chExt cx="24899868" cy="983771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0F042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53770" y="505729"/>
            <a:ext cx="4279219" cy="502851"/>
            <a:chOff x="0" y="0"/>
            <a:chExt cx="3458428" cy="40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87567" y="505729"/>
            <a:ext cx="2732854" cy="502851"/>
            <a:chOff x="0" y="0"/>
            <a:chExt cx="2208669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86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08669">
                  <a:moveTo>
                    <a:pt x="2005469" y="0"/>
                  </a:moveTo>
                  <a:cubicBezTo>
                    <a:pt x="2117693" y="0"/>
                    <a:pt x="2208669" y="90976"/>
                    <a:pt x="2208669" y="203200"/>
                  </a:cubicBezTo>
                  <a:cubicBezTo>
                    <a:pt x="2208669" y="315424"/>
                    <a:pt x="2117693" y="406400"/>
                    <a:pt x="20054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20866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657277" y="505729"/>
            <a:ext cx="3625880" cy="502851"/>
            <a:chOff x="0" y="0"/>
            <a:chExt cx="2930405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30405" cy="406400"/>
            </a:xfrm>
            <a:custGeom>
              <a:avLst/>
              <a:gdLst/>
              <a:ahLst/>
              <a:cxnLst/>
              <a:rect r="r" b="b" t="t" l="l"/>
              <a:pathLst>
                <a:path h="406400" w="2930405">
                  <a:moveTo>
                    <a:pt x="2727205" y="0"/>
                  </a:moveTo>
                  <a:cubicBezTo>
                    <a:pt x="2839429" y="0"/>
                    <a:pt x="2930405" y="90976"/>
                    <a:pt x="2930405" y="203200"/>
                  </a:cubicBezTo>
                  <a:cubicBezTo>
                    <a:pt x="2930405" y="315424"/>
                    <a:pt x="2839429" y="406400"/>
                    <a:pt x="272720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0F042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930405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421703" y="677716"/>
            <a:ext cx="29317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4-5</a:t>
            </a: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июля, 2026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696199" y="677716"/>
            <a:ext cx="2430290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Площадка презентаций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53770" y="677716"/>
            <a:ext cx="42792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Представлено</a:t>
            </a: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: Banana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26489" y="677716"/>
            <a:ext cx="2674881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Презентация</a:t>
            </a:r>
            <a:r>
              <a:rPr lang="en-US" b="true" sz="1700" spc="-76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ИИ‑решения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419632" y="1876277"/>
            <a:ext cx="3401913" cy="7157609"/>
            <a:chOff x="0" y="0"/>
            <a:chExt cx="352977" cy="74266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2977" cy="742661"/>
            </a:xfrm>
            <a:custGeom>
              <a:avLst/>
              <a:gdLst/>
              <a:ahLst/>
              <a:cxnLst/>
              <a:rect r="r" b="b" t="t" l="l"/>
              <a:pathLst>
                <a:path h="742661" w="352977">
                  <a:moveTo>
                    <a:pt x="81927" y="0"/>
                  </a:moveTo>
                  <a:lnTo>
                    <a:pt x="271049" y="0"/>
                  </a:lnTo>
                  <a:cubicBezTo>
                    <a:pt x="292778" y="0"/>
                    <a:pt x="313616" y="8632"/>
                    <a:pt x="328981" y="23996"/>
                  </a:cubicBezTo>
                  <a:cubicBezTo>
                    <a:pt x="344345" y="39360"/>
                    <a:pt x="352977" y="60199"/>
                    <a:pt x="352977" y="81927"/>
                  </a:cubicBezTo>
                  <a:lnTo>
                    <a:pt x="352977" y="660734"/>
                  </a:lnTo>
                  <a:cubicBezTo>
                    <a:pt x="352977" y="682462"/>
                    <a:pt x="344345" y="703301"/>
                    <a:pt x="328981" y="718665"/>
                  </a:cubicBezTo>
                  <a:cubicBezTo>
                    <a:pt x="313616" y="734030"/>
                    <a:pt x="292778" y="742661"/>
                    <a:pt x="271049" y="742661"/>
                  </a:cubicBezTo>
                  <a:lnTo>
                    <a:pt x="81927" y="742661"/>
                  </a:lnTo>
                  <a:cubicBezTo>
                    <a:pt x="60199" y="742661"/>
                    <a:pt x="39360" y="734030"/>
                    <a:pt x="23996" y="718665"/>
                  </a:cubicBezTo>
                  <a:cubicBezTo>
                    <a:pt x="8632" y="703301"/>
                    <a:pt x="0" y="682462"/>
                    <a:pt x="0" y="660734"/>
                  </a:cubicBezTo>
                  <a:lnTo>
                    <a:pt x="0" y="81927"/>
                  </a:lnTo>
                  <a:cubicBezTo>
                    <a:pt x="0" y="60199"/>
                    <a:pt x="8632" y="39360"/>
                    <a:pt x="23996" y="23996"/>
                  </a:cubicBezTo>
                  <a:cubicBezTo>
                    <a:pt x="39360" y="8632"/>
                    <a:pt x="60199" y="0"/>
                    <a:pt x="81927" y="0"/>
                  </a:cubicBez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-93185" t="0" r="0" b="0"/>
              </a:stretch>
            </a:blipFill>
            <a:ln w="9525" cap="rnd">
              <a:solidFill>
                <a:srgbClr val="0F042D">
                  <a:alpha val="67843"/>
                </a:srgbClr>
              </a:solidFill>
              <a:prstDash val="solid"/>
              <a:round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97759" y="1876277"/>
            <a:ext cx="3401913" cy="7157609"/>
            <a:chOff x="0" y="0"/>
            <a:chExt cx="352977" cy="74266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2977" cy="742661"/>
            </a:xfrm>
            <a:custGeom>
              <a:avLst/>
              <a:gdLst/>
              <a:ahLst/>
              <a:cxnLst/>
              <a:rect r="r" b="b" t="t" l="l"/>
              <a:pathLst>
                <a:path h="742661" w="352977">
                  <a:moveTo>
                    <a:pt x="81927" y="0"/>
                  </a:moveTo>
                  <a:lnTo>
                    <a:pt x="271049" y="0"/>
                  </a:lnTo>
                  <a:cubicBezTo>
                    <a:pt x="292778" y="0"/>
                    <a:pt x="313616" y="8632"/>
                    <a:pt x="328981" y="23996"/>
                  </a:cubicBezTo>
                  <a:cubicBezTo>
                    <a:pt x="344345" y="39360"/>
                    <a:pt x="352977" y="60199"/>
                    <a:pt x="352977" y="81927"/>
                  </a:cubicBezTo>
                  <a:lnTo>
                    <a:pt x="352977" y="660734"/>
                  </a:lnTo>
                  <a:cubicBezTo>
                    <a:pt x="352977" y="682462"/>
                    <a:pt x="344345" y="703301"/>
                    <a:pt x="328981" y="718665"/>
                  </a:cubicBezTo>
                  <a:cubicBezTo>
                    <a:pt x="313616" y="734030"/>
                    <a:pt x="292778" y="742661"/>
                    <a:pt x="271049" y="742661"/>
                  </a:cubicBezTo>
                  <a:lnTo>
                    <a:pt x="81927" y="742661"/>
                  </a:lnTo>
                  <a:cubicBezTo>
                    <a:pt x="60199" y="742661"/>
                    <a:pt x="39360" y="734030"/>
                    <a:pt x="23996" y="718665"/>
                  </a:cubicBezTo>
                  <a:cubicBezTo>
                    <a:pt x="8632" y="703301"/>
                    <a:pt x="0" y="682462"/>
                    <a:pt x="0" y="660734"/>
                  </a:cubicBezTo>
                  <a:lnTo>
                    <a:pt x="0" y="81927"/>
                  </a:lnTo>
                  <a:cubicBezTo>
                    <a:pt x="0" y="60199"/>
                    <a:pt x="8632" y="39360"/>
                    <a:pt x="23996" y="23996"/>
                  </a:cubicBezTo>
                  <a:cubicBezTo>
                    <a:pt x="39360" y="8632"/>
                    <a:pt x="60199" y="0"/>
                    <a:pt x="81927" y="0"/>
                  </a:cubicBez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0" t="0" r="-93185" b="0"/>
              </a:stretch>
            </a:blipFill>
            <a:ln w="9525" cap="rnd">
              <a:solidFill>
                <a:srgbClr val="0F042D">
                  <a:alpha val="67843"/>
                </a:srgbClr>
              </a:solidFill>
              <a:prstDash val="solid"/>
              <a:round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1651862"/>
            <a:ext cx="6921793" cy="7606438"/>
            <a:chOff x="0" y="0"/>
            <a:chExt cx="675815" cy="7426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5815" cy="742661"/>
            </a:xfrm>
            <a:custGeom>
              <a:avLst/>
              <a:gdLst/>
              <a:ahLst/>
              <a:cxnLst/>
              <a:rect r="r" b="b" t="t" l="l"/>
              <a:pathLst>
                <a:path h="742661" w="675815">
                  <a:moveTo>
                    <a:pt x="40265" y="0"/>
                  </a:moveTo>
                  <a:lnTo>
                    <a:pt x="635550" y="0"/>
                  </a:lnTo>
                  <a:cubicBezTo>
                    <a:pt x="646229" y="0"/>
                    <a:pt x="656471" y="4242"/>
                    <a:pt x="664022" y="11793"/>
                  </a:cubicBezTo>
                  <a:cubicBezTo>
                    <a:pt x="671573" y="19345"/>
                    <a:pt x="675815" y="29586"/>
                    <a:pt x="675815" y="40265"/>
                  </a:cubicBezTo>
                  <a:lnTo>
                    <a:pt x="675815" y="702396"/>
                  </a:lnTo>
                  <a:cubicBezTo>
                    <a:pt x="675815" y="713075"/>
                    <a:pt x="671573" y="723316"/>
                    <a:pt x="664022" y="730868"/>
                  </a:cubicBezTo>
                  <a:cubicBezTo>
                    <a:pt x="656471" y="738419"/>
                    <a:pt x="646229" y="742661"/>
                    <a:pt x="635550" y="742661"/>
                  </a:cubicBezTo>
                  <a:lnTo>
                    <a:pt x="40265" y="742661"/>
                  </a:lnTo>
                  <a:cubicBezTo>
                    <a:pt x="29586" y="742661"/>
                    <a:pt x="19345" y="738419"/>
                    <a:pt x="11793" y="730868"/>
                  </a:cubicBezTo>
                  <a:cubicBezTo>
                    <a:pt x="4242" y="723316"/>
                    <a:pt x="0" y="713075"/>
                    <a:pt x="0" y="702396"/>
                  </a:cubicBezTo>
                  <a:lnTo>
                    <a:pt x="0" y="40265"/>
                  </a:lnTo>
                  <a:cubicBezTo>
                    <a:pt x="0" y="29586"/>
                    <a:pt x="4242" y="19345"/>
                    <a:pt x="11793" y="11793"/>
                  </a:cubicBezTo>
                  <a:cubicBezTo>
                    <a:pt x="19345" y="4242"/>
                    <a:pt x="29586" y="0"/>
                    <a:pt x="40265" y="0"/>
                  </a:cubicBezTo>
                  <a:close/>
                </a:path>
              </a:pathLst>
            </a:custGeom>
            <a:blipFill>
              <a:blip r:embed="rId2"/>
              <a:stretch>
                <a:fillRect l="-450" t="0" r="-450" b="0"/>
              </a:stretch>
            </a:blipFill>
            <a:ln w="9525" cap="rnd">
              <a:solidFill>
                <a:srgbClr val="0F042D"/>
              </a:solidFill>
              <a:prstDash val="solid"/>
              <a:round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9422874" y="1934945"/>
            <a:ext cx="7410859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spc="-270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Почему стандартные ИИ-решения бессильны?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952034" y="4632816"/>
            <a:ext cx="4941681" cy="3350250"/>
            <a:chOff x="0" y="0"/>
            <a:chExt cx="6588908" cy="44670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6588908" cy="4467000"/>
              <a:chOff x="0" y="0"/>
              <a:chExt cx="1301513" cy="88237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301513" cy="882370"/>
              </a:xfrm>
              <a:custGeom>
                <a:avLst/>
                <a:gdLst/>
                <a:ahLst/>
                <a:cxnLst/>
                <a:rect r="r" b="b" t="t" l="l"/>
                <a:pathLst>
                  <a:path h="882370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825971"/>
                    </a:lnTo>
                    <a:cubicBezTo>
                      <a:pt x="1301513" y="857119"/>
                      <a:pt x="1276262" y="882370"/>
                      <a:pt x="1245113" y="882370"/>
                    </a:cubicBezTo>
                    <a:lnTo>
                      <a:pt x="56400" y="882370"/>
                    </a:lnTo>
                    <a:cubicBezTo>
                      <a:pt x="25251" y="882370"/>
                      <a:pt x="0" y="857119"/>
                      <a:pt x="0" y="825971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ln w="1905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301513" cy="882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554723" y="523391"/>
              <a:ext cx="5454063" cy="69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sz="3727" spc="-167" b="true">
                  <a:solidFill>
                    <a:srgbClr val="EFEFE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Боль R&amp;D</a:t>
              </a:r>
            </a:p>
          </p:txBody>
        </p:sp>
        <p:sp>
          <p:nvSpPr>
            <p:cNvPr name="AutoShape 52" id="52"/>
            <p:cNvSpPr/>
            <p:nvPr/>
          </p:nvSpPr>
          <p:spPr>
            <a:xfrm flipV="true">
              <a:off x="588764" y="1638861"/>
              <a:ext cx="5351616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3" id="53"/>
            <p:cNvSpPr txBox="true"/>
            <p:nvPr/>
          </p:nvSpPr>
          <p:spPr>
            <a:xfrm rot="0">
              <a:off x="588764" y="2029386"/>
              <a:ext cx="5420022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</a:pPr>
              <a:r>
                <a:rPr lang="en-US" sz="2499" i="true" spc="-79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Научные</a:t>
              </a:r>
              <a:r>
                <a:rPr lang="en-US" sz="2499" i="true" spc="-79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 отчеты и журналы огромны, а данные в них не структурированы.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17619" y="5455081"/>
            <a:ext cx="4941681" cy="4150032"/>
            <a:chOff x="0" y="0"/>
            <a:chExt cx="6588908" cy="5533376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6588908" cy="5533376"/>
              <a:chOff x="0" y="0"/>
              <a:chExt cx="1301513" cy="109301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301513" cy="1093013"/>
              </a:xfrm>
              <a:custGeom>
                <a:avLst/>
                <a:gdLst/>
                <a:ahLst/>
                <a:cxnLst/>
                <a:rect r="r" b="b" t="t" l="l"/>
                <a:pathLst>
                  <a:path h="1093013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1036613"/>
                    </a:lnTo>
                    <a:cubicBezTo>
                      <a:pt x="1301513" y="1067762"/>
                      <a:pt x="1276262" y="1093013"/>
                      <a:pt x="1245113" y="1093013"/>
                    </a:cubicBezTo>
                    <a:lnTo>
                      <a:pt x="56400" y="1093013"/>
                    </a:lnTo>
                    <a:cubicBezTo>
                      <a:pt x="25251" y="1093013"/>
                      <a:pt x="0" y="1067762"/>
                      <a:pt x="0" y="1036613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ln w="19050" cap="rnd">
                <a:solidFill>
                  <a:srgbClr val="0F042D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0"/>
                <a:ext cx="1301513" cy="1093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567423" y="485987"/>
              <a:ext cx="5454063" cy="69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b="true" sz="3727" spc="-167">
                  <a:solidFill>
                    <a:srgbClr val="0F042D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RAG не работает</a:t>
              </a:r>
            </a:p>
          </p:txBody>
        </p:sp>
        <p:sp>
          <p:nvSpPr>
            <p:cNvPr name="AutoShape 59" id="59"/>
            <p:cNvSpPr/>
            <p:nvPr/>
          </p:nvSpPr>
          <p:spPr>
            <a:xfrm flipV="true">
              <a:off x="601464" y="1601456"/>
              <a:ext cx="5351616" cy="0"/>
            </a:xfrm>
            <a:prstGeom prst="line">
              <a:avLst/>
            </a:prstGeom>
            <a:ln cap="flat" w="25400">
              <a:solidFill>
                <a:srgbClr val="0F042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601464" y="2001506"/>
              <a:ext cx="5420022" cy="3531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339"/>
                </a:lnSpc>
                <a:buFont typeface="Arial"/>
                <a:buChar char="•"/>
              </a:pPr>
              <a:r>
                <a:rPr lang="en-US" sz="1799" i="true" spc="-57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Обычный векторный поиск не понимает математические условия и фильтры </a:t>
              </a:r>
            </a:p>
            <a:p>
              <a:pPr algn="l" marL="388618" indent="-194309" lvl="1">
                <a:lnSpc>
                  <a:spcPts val="2339"/>
                </a:lnSpc>
                <a:buFont typeface="Arial"/>
                <a:buChar char="•"/>
              </a:pPr>
              <a:r>
                <a:rPr lang="en-US" sz="1799" i="true" spc="-57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Риск перепутать параметры разных металлов из одной статьи.</a:t>
              </a:r>
            </a:p>
            <a:p>
              <a:pPr algn="l" marL="388618" indent="-194309" lvl="1">
                <a:lnSpc>
                  <a:spcPts val="2339"/>
                </a:lnSpc>
                <a:buFont typeface="Arial"/>
                <a:buChar char="•"/>
              </a:pPr>
              <a:r>
                <a:rPr lang="en-US" sz="1799" i="true" spc="-57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Неспособность обработать запросы по нескольким темам одновременно.</a:t>
              </a:r>
            </a:p>
            <a:p>
              <a:pPr algn="l" marL="0" indent="0" lvl="0">
                <a:lnSpc>
                  <a:spcPts val="2339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84537" y="505729"/>
            <a:ext cx="466757" cy="578475"/>
          </a:xfrm>
          <a:custGeom>
            <a:avLst/>
            <a:gdLst/>
            <a:ahLst/>
            <a:cxnLst/>
            <a:rect r="r" b="b" t="t" l="l"/>
            <a:pathLst>
              <a:path h="578475" w="466757">
                <a:moveTo>
                  <a:pt x="0" y="0"/>
                </a:moveTo>
                <a:lnTo>
                  <a:pt x="466757" y="0"/>
                </a:lnTo>
                <a:lnTo>
                  <a:pt x="466757" y="578475"/>
                </a:lnTo>
                <a:lnTo>
                  <a:pt x="0" y="57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451294" y="695144"/>
            <a:ext cx="1784119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2100" spc="-94" b="true">
                <a:solidFill>
                  <a:srgbClr val="0F04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НОРНИКЕЛЬ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3770" y="505729"/>
            <a:ext cx="4279219" cy="502851"/>
            <a:chOff x="0" y="0"/>
            <a:chExt cx="3458428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87567" y="505729"/>
            <a:ext cx="2732854" cy="502851"/>
            <a:chOff x="0" y="0"/>
            <a:chExt cx="220866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86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08669">
                  <a:moveTo>
                    <a:pt x="2005469" y="0"/>
                  </a:moveTo>
                  <a:cubicBezTo>
                    <a:pt x="2117693" y="0"/>
                    <a:pt x="2208669" y="90976"/>
                    <a:pt x="2208669" y="203200"/>
                  </a:cubicBezTo>
                  <a:cubicBezTo>
                    <a:pt x="2208669" y="315424"/>
                    <a:pt x="2117693" y="406400"/>
                    <a:pt x="20054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866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7277" y="505729"/>
            <a:ext cx="3625880" cy="502851"/>
            <a:chOff x="0" y="0"/>
            <a:chExt cx="293040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0405" cy="406400"/>
            </a:xfrm>
            <a:custGeom>
              <a:avLst/>
              <a:gdLst/>
              <a:ahLst/>
              <a:cxnLst/>
              <a:rect r="r" b="b" t="t" l="l"/>
              <a:pathLst>
                <a:path h="406400" w="2930405">
                  <a:moveTo>
                    <a:pt x="2727205" y="0"/>
                  </a:moveTo>
                  <a:cubicBezTo>
                    <a:pt x="2839429" y="0"/>
                    <a:pt x="2930405" y="90976"/>
                    <a:pt x="2930405" y="203200"/>
                  </a:cubicBezTo>
                  <a:cubicBezTo>
                    <a:pt x="2930405" y="315424"/>
                    <a:pt x="2839429" y="406400"/>
                    <a:pt x="272720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930405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sp>
        <p:nvSpPr>
          <p:cNvPr name="Freeform 36" id="36"/>
          <p:cNvSpPr/>
          <p:nvPr/>
        </p:nvSpPr>
        <p:spPr>
          <a:xfrm flipH="false" flipV="false" rot="0">
            <a:off x="984537" y="505729"/>
            <a:ext cx="466757" cy="578475"/>
          </a:xfrm>
          <a:custGeom>
            <a:avLst/>
            <a:gdLst/>
            <a:ahLst/>
            <a:cxnLst/>
            <a:rect r="r" b="b" t="t" l="l"/>
            <a:pathLst>
              <a:path h="578475" w="466757">
                <a:moveTo>
                  <a:pt x="0" y="0"/>
                </a:moveTo>
                <a:lnTo>
                  <a:pt x="466757" y="0"/>
                </a:lnTo>
                <a:lnTo>
                  <a:pt x="466757" y="578475"/>
                </a:lnTo>
                <a:lnTo>
                  <a:pt x="0" y="578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28700" y="2506534"/>
            <a:ext cx="5551071" cy="587839"/>
            <a:chOff x="0" y="0"/>
            <a:chExt cx="4486328" cy="4750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86328" cy="475087"/>
            </a:xfrm>
            <a:custGeom>
              <a:avLst/>
              <a:gdLst/>
              <a:ahLst/>
              <a:cxnLst/>
              <a:rect r="r" b="b" t="t" l="l"/>
              <a:pathLst>
                <a:path h="475087" w="4486328">
                  <a:moveTo>
                    <a:pt x="4283128" y="0"/>
                  </a:moveTo>
                  <a:cubicBezTo>
                    <a:pt x="4395353" y="0"/>
                    <a:pt x="4486328" y="106352"/>
                    <a:pt x="4486328" y="237543"/>
                  </a:cubicBezTo>
                  <a:cubicBezTo>
                    <a:pt x="4486328" y="368735"/>
                    <a:pt x="4395353" y="475087"/>
                    <a:pt x="4283128" y="475087"/>
                  </a:cubicBezTo>
                  <a:lnTo>
                    <a:pt x="203200" y="475087"/>
                  </a:lnTo>
                  <a:cubicBezTo>
                    <a:pt x="90976" y="475087"/>
                    <a:pt x="0" y="368735"/>
                    <a:pt x="0" y="237543"/>
                  </a:cubicBezTo>
                  <a:cubicBezTo>
                    <a:pt x="0" y="1063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486328" cy="47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  <a:r>
                <a:rPr lang="en-US" b="true" sz="2238" spc="-134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PDF / DOCX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591821" y="3684496"/>
            <a:ext cx="5551071" cy="587839"/>
            <a:chOff x="0" y="0"/>
            <a:chExt cx="4486328" cy="4750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86328" cy="475087"/>
            </a:xfrm>
            <a:custGeom>
              <a:avLst/>
              <a:gdLst/>
              <a:ahLst/>
              <a:cxnLst/>
              <a:rect r="r" b="b" t="t" l="l"/>
              <a:pathLst>
                <a:path h="475087" w="4486328">
                  <a:moveTo>
                    <a:pt x="4283128" y="0"/>
                  </a:moveTo>
                  <a:cubicBezTo>
                    <a:pt x="4395353" y="0"/>
                    <a:pt x="4486328" y="106352"/>
                    <a:pt x="4486328" y="237543"/>
                  </a:cubicBezTo>
                  <a:cubicBezTo>
                    <a:pt x="4486328" y="368735"/>
                    <a:pt x="4395353" y="475087"/>
                    <a:pt x="4283128" y="475087"/>
                  </a:cubicBezTo>
                  <a:lnTo>
                    <a:pt x="203200" y="475087"/>
                  </a:lnTo>
                  <a:cubicBezTo>
                    <a:pt x="90976" y="475087"/>
                    <a:pt x="0" y="368735"/>
                    <a:pt x="0" y="237543"/>
                  </a:cubicBezTo>
                  <a:cubicBezTo>
                    <a:pt x="0" y="1063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486328" cy="47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  <a:r>
                <a:rPr lang="en-US" b="true" sz="2238" spc="-134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Асинхронный ETL - контейнер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45108" y="4862885"/>
            <a:ext cx="5551071" cy="587839"/>
            <a:chOff x="0" y="0"/>
            <a:chExt cx="4486328" cy="47508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86328" cy="475087"/>
            </a:xfrm>
            <a:custGeom>
              <a:avLst/>
              <a:gdLst/>
              <a:ahLst/>
              <a:cxnLst/>
              <a:rect r="r" b="b" t="t" l="l"/>
              <a:pathLst>
                <a:path h="475087" w="4486328">
                  <a:moveTo>
                    <a:pt x="4283128" y="0"/>
                  </a:moveTo>
                  <a:cubicBezTo>
                    <a:pt x="4395353" y="0"/>
                    <a:pt x="4486328" y="106352"/>
                    <a:pt x="4486328" y="237543"/>
                  </a:cubicBezTo>
                  <a:cubicBezTo>
                    <a:pt x="4486328" y="368735"/>
                    <a:pt x="4395353" y="475087"/>
                    <a:pt x="4283128" y="475087"/>
                  </a:cubicBezTo>
                  <a:lnTo>
                    <a:pt x="203200" y="475087"/>
                  </a:lnTo>
                  <a:cubicBezTo>
                    <a:pt x="90976" y="475087"/>
                    <a:pt x="0" y="368735"/>
                    <a:pt x="0" y="237543"/>
                  </a:cubicBezTo>
                  <a:cubicBezTo>
                    <a:pt x="0" y="1063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FFF7EE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486328" cy="47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  <a:r>
                <a:rPr lang="en-US" b="true" sz="2238" spc="-134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Валидация Pydantic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708229" y="6040848"/>
            <a:ext cx="5551071" cy="587839"/>
            <a:chOff x="0" y="0"/>
            <a:chExt cx="4486328" cy="47508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86328" cy="475087"/>
            </a:xfrm>
            <a:custGeom>
              <a:avLst/>
              <a:gdLst/>
              <a:ahLst/>
              <a:cxnLst/>
              <a:rect r="r" b="b" t="t" l="l"/>
              <a:pathLst>
                <a:path h="475087" w="4486328">
                  <a:moveTo>
                    <a:pt x="4283128" y="0"/>
                  </a:moveTo>
                  <a:cubicBezTo>
                    <a:pt x="4395353" y="0"/>
                    <a:pt x="4486328" y="106352"/>
                    <a:pt x="4486328" y="237543"/>
                  </a:cubicBezTo>
                  <a:cubicBezTo>
                    <a:pt x="4486328" y="368735"/>
                    <a:pt x="4395353" y="475087"/>
                    <a:pt x="4283128" y="475087"/>
                  </a:cubicBezTo>
                  <a:lnTo>
                    <a:pt x="203200" y="475087"/>
                  </a:lnTo>
                  <a:cubicBezTo>
                    <a:pt x="90976" y="475087"/>
                    <a:pt x="0" y="368735"/>
                    <a:pt x="0" y="237543"/>
                  </a:cubicBezTo>
                  <a:cubicBezTo>
                    <a:pt x="0" y="1063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FFF7EE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486328" cy="47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  <a:r>
                <a:rPr lang="en-US" b="true" sz="2238" spc="-134">
                  <a:solidFill>
                    <a:srgbClr val="000000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Реляционная БД SQLite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true" rot="0">
            <a:off x="6665102" y="2675755"/>
            <a:ext cx="902901" cy="837235"/>
          </a:xfrm>
          <a:custGeom>
            <a:avLst/>
            <a:gdLst/>
            <a:ahLst/>
            <a:cxnLst/>
            <a:rect r="r" b="b" t="t" l="l"/>
            <a:pathLst>
              <a:path h="837235" w="902901">
                <a:moveTo>
                  <a:pt x="0" y="837236"/>
                </a:moveTo>
                <a:lnTo>
                  <a:pt x="902901" y="837236"/>
                </a:lnTo>
                <a:lnTo>
                  <a:pt x="902901" y="0"/>
                </a:lnTo>
                <a:lnTo>
                  <a:pt x="0" y="0"/>
                </a:lnTo>
                <a:lnTo>
                  <a:pt x="0" y="83723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true" rot="0">
            <a:off x="10262284" y="3932046"/>
            <a:ext cx="902901" cy="837235"/>
          </a:xfrm>
          <a:custGeom>
            <a:avLst/>
            <a:gdLst/>
            <a:ahLst/>
            <a:cxnLst/>
            <a:rect r="r" b="b" t="t" l="l"/>
            <a:pathLst>
              <a:path h="837235" w="902901">
                <a:moveTo>
                  <a:pt x="0" y="837235"/>
                </a:moveTo>
                <a:lnTo>
                  <a:pt x="902901" y="837235"/>
                </a:lnTo>
                <a:lnTo>
                  <a:pt x="902901" y="0"/>
                </a:lnTo>
                <a:lnTo>
                  <a:pt x="0" y="0"/>
                </a:lnTo>
                <a:lnTo>
                  <a:pt x="0" y="8372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true" rot="0">
            <a:off x="13781975" y="5061164"/>
            <a:ext cx="902901" cy="837235"/>
          </a:xfrm>
          <a:custGeom>
            <a:avLst/>
            <a:gdLst/>
            <a:ahLst/>
            <a:cxnLst/>
            <a:rect r="r" b="b" t="t" l="l"/>
            <a:pathLst>
              <a:path h="837235" w="902901">
                <a:moveTo>
                  <a:pt x="0" y="837235"/>
                </a:moveTo>
                <a:lnTo>
                  <a:pt x="902901" y="837235"/>
                </a:lnTo>
                <a:lnTo>
                  <a:pt x="902901" y="0"/>
                </a:lnTo>
                <a:lnTo>
                  <a:pt x="0" y="0"/>
                </a:lnTo>
                <a:lnTo>
                  <a:pt x="0" y="8372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-1240767">
            <a:off x="14701330" y="6383955"/>
            <a:ext cx="3284287" cy="1831387"/>
          </a:xfrm>
          <a:custGeom>
            <a:avLst/>
            <a:gdLst/>
            <a:ahLst/>
            <a:cxnLst/>
            <a:rect r="r" b="b" t="t" l="l"/>
            <a:pathLst>
              <a:path h="1831387" w="3284287">
                <a:moveTo>
                  <a:pt x="0" y="0"/>
                </a:moveTo>
                <a:lnTo>
                  <a:pt x="3284286" y="0"/>
                </a:lnTo>
                <a:lnTo>
                  <a:pt x="3284286" y="1831387"/>
                </a:lnTo>
                <a:lnTo>
                  <a:pt x="0" y="1831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-1061007">
            <a:off x="12611358" y="3857470"/>
            <a:ext cx="2483539" cy="1384873"/>
          </a:xfrm>
          <a:custGeom>
            <a:avLst/>
            <a:gdLst/>
            <a:ahLst/>
            <a:cxnLst/>
            <a:rect r="r" b="b" t="t" l="l"/>
            <a:pathLst>
              <a:path h="1384873" w="2483539">
                <a:moveTo>
                  <a:pt x="0" y="0"/>
                </a:moveTo>
                <a:lnTo>
                  <a:pt x="2483538" y="0"/>
                </a:lnTo>
                <a:lnTo>
                  <a:pt x="2483538" y="1384873"/>
                </a:lnTo>
                <a:lnTo>
                  <a:pt x="0" y="13848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1489737">
            <a:off x="3387022" y="3878085"/>
            <a:ext cx="2409598" cy="1343642"/>
          </a:xfrm>
          <a:custGeom>
            <a:avLst/>
            <a:gdLst/>
            <a:ahLst/>
            <a:cxnLst/>
            <a:rect r="r" b="b" t="t" l="l"/>
            <a:pathLst>
              <a:path h="1343642" w="2409598">
                <a:moveTo>
                  <a:pt x="0" y="0"/>
                </a:moveTo>
                <a:lnTo>
                  <a:pt x="2409598" y="0"/>
                </a:lnTo>
                <a:lnTo>
                  <a:pt x="2409598" y="1343642"/>
                </a:lnTo>
                <a:lnTo>
                  <a:pt x="0" y="134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1094366">
            <a:off x="678352" y="2319655"/>
            <a:ext cx="1426503" cy="1753000"/>
          </a:xfrm>
          <a:custGeom>
            <a:avLst/>
            <a:gdLst/>
            <a:ahLst/>
            <a:cxnLst/>
            <a:rect r="r" b="b" t="t" l="l"/>
            <a:pathLst>
              <a:path h="1753000" w="1426503">
                <a:moveTo>
                  <a:pt x="0" y="0"/>
                </a:moveTo>
                <a:lnTo>
                  <a:pt x="1426503" y="0"/>
                </a:lnTo>
                <a:lnTo>
                  <a:pt x="1426503" y="1752999"/>
                </a:lnTo>
                <a:lnTo>
                  <a:pt x="0" y="17529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4421703" y="677716"/>
            <a:ext cx="29317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4-5 июля, 2026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676327" y="677716"/>
            <a:ext cx="2430290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Площадка презентаций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953770" y="677716"/>
            <a:ext cx="42792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Представлено: Banana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116553" y="677716"/>
            <a:ext cx="2674881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Презентация ИИ‑решения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46048" y="1535341"/>
            <a:ext cx="8300263" cy="151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96"/>
              </a:lnSpc>
            </a:pPr>
            <a:r>
              <a:rPr lang="en-US" sz="9600" spc="-432" b="true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Архитектура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16996" y="6511505"/>
            <a:ext cx="12096214" cy="256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b="true" sz="2599" spc="-83">
                <a:solidFill>
                  <a:srgbClr val="EFEFEF"/>
                </a:solidFill>
                <a:latin typeface="Aileron Bold"/>
                <a:ea typeface="Aileron Bold"/>
                <a:cs typeface="Aileron Bold"/>
                <a:sym typeface="Aileron Bold"/>
              </a:rPr>
              <a:t>Особенности</a:t>
            </a:r>
            <a:r>
              <a:rPr lang="en-US" b="true" sz="2599" spc="-83" strike="noStrike" u="none">
                <a:solidFill>
                  <a:srgbClr val="EFEFEF"/>
                </a:solidFill>
                <a:latin typeface="Aileron Bold"/>
                <a:ea typeface="Aileron Bold"/>
                <a:cs typeface="Aileron Bold"/>
                <a:sym typeface="Aileron Bold"/>
              </a:rPr>
              <a:t> Ingestion:</a:t>
            </a:r>
          </a:p>
          <a:p>
            <a:pPr algn="l" marL="561336" indent="-280668" lvl="1">
              <a:lnSpc>
                <a:spcPts val="3379"/>
              </a:lnSpc>
              <a:buFont typeface="Arial"/>
              <a:buChar char="•"/>
            </a:pPr>
            <a:r>
              <a:rPr lang="en-US" b="true" sz="2599" spc="-83" strike="noStrike" u="none">
                <a:solidFill>
                  <a:srgbClr val="EFEFEF"/>
                </a:solidFill>
                <a:latin typeface="Aileron Bold"/>
                <a:ea typeface="Aileron Bold"/>
                <a:cs typeface="Aileron Bold"/>
                <a:sym typeface="Aileron Bold"/>
              </a:rPr>
              <a:t>Мультиформатность: парсинг .pdf (PyMuPDF) и .docx (python-docx).</a:t>
            </a:r>
          </a:p>
          <a:p>
            <a:pPr algn="l" marL="561336" indent="-280668" lvl="1">
              <a:lnSpc>
                <a:spcPts val="3379"/>
              </a:lnSpc>
              <a:buFont typeface="Arial"/>
              <a:buChar char="•"/>
            </a:pPr>
            <a:r>
              <a:rPr lang="en-US" b="true" sz="2599" spc="-83" strike="noStrike" u="none">
                <a:solidFill>
                  <a:srgbClr val="EFEFEF"/>
                </a:solidFill>
                <a:latin typeface="Aileron Bold"/>
                <a:ea typeface="Aileron Bold"/>
                <a:cs typeface="Aileron Bold"/>
                <a:sym typeface="Aileron Bold"/>
              </a:rPr>
              <a:t>Разделение сущностей на «Факты» (facts) и «Параметры» (parameters).</a:t>
            </a:r>
          </a:p>
          <a:p>
            <a:pPr algn="l" marL="561336" indent="-280668" lvl="1">
              <a:lnSpc>
                <a:spcPts val="3379"/>
              </a:lnSpc>
              <a:buFont typeface="Arial"/>
              <a:buChar char="•"/>
            </a:pPr>
            <a:r>
              <a:rPr lang="en-US" b="true" sz="2599" spc="-83" strike="noStrike" u="none">
                <a:solidFill>
                  <a:srgbClr val="EFEFEF"/>
                </a:solidFill>
                <a:latin typeface="Aileron Bold"/>
                <a:ea typeface="Aileron Bold"/>
                <a:cs typeface="Aileron Bold"/>
                <a:sym typeface="Aileron Bold"/>
              </a:rPr>
              <a:t>Инкрементальный импорт: скрипт за миллисекунды пропускает уже обработанные файлы и индексирует только новые.</a:t>
            </a:r>
          </a:p>
          <a:p>
            <a:pPr algn="l" marL="0" indent="0" lvl="0">
              <a:lnSpc>
                <a:spcPts val="3379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1451294" y="695144"/>
            <a:ext cx="1784119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b="true" sz="2100" spc="-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НОРНИКЕЛЬ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0F04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3770" y="505729"/>
            <a:ext cx="4279219" cy="502851"/>
            <a:chOff x="0" y="0"/>
            <a:chExt cx="3458428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87567" y="505729"/>
            <a:ext cx="2732854" cy="502851"/>
            <a:chOff x="0" y="0"/>
            <a:chExt cx="220866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86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08669">
                  <a:moveTo>
                    <a:pt x="2005469" y="0"/>
                  </a:moveTo>
                  <a:cubicBezTo>
                    <a:pt x="2117693" y="0"/>
                    <a:pt x="2208669" y="90976"/>
                    <a:pt x="2208669" y="203200"/>
                  </a:cubicBezTo>
                  <a:cubicBezTo>
                    <a:pt x="2208669" y="315424"/>
                    <a:pt x="2117693" y="406400"/>
                    <a:pt x="20054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042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866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7277" y="505729"/>
            <a:ext cx="3625880" cy="502851"/>
            <a:chOff x="0" y="0"/>
            <a:chExt cx="293040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0405" cy="406400"/>
            </a:xfrm>
            <a:custGeom>
              <a:avLst/>
              <a:gdLst/>
              <a:ahLst/>
              <a:cxnLst/>
              <a:rect r="r" b="b" t="t" l="l"/>
              <a:pathLst>
                <a:path h="406400" w="2930405">
                  <a:moveTo>
                    <a:pt x="2727205" y="0"/>
                  </a:moveTo>
                  <a:cubicBezTo>
                    <a:pt x="2839429" y="0"/>
                    <a:pt x="2930405" y="90976"/>
                    <a:pt x="2930405" y="203200"/>
                  </a:cubicBezTo>
                  <a:cubicBezTo>
                    <a:pt x="2930405" y="315424"/>
                    <a:pt x="2839429" y="406400"/>
                    <a:pt x="272720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0F04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930405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93450" y="3108806"/>
            <a:ext cx="18674901" cy="7378284"/>
            <a:chOff x="0" y="0"/>
            <a:chExt cx="24899868" cy="983771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217916" y="4875896"/>
            <a:ext cx="4941681" cy="3844104"/>
            <a:chOff x="0" y="0"/>
            <a:chExt cx="6588908" cy="512547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588908" cy="5125473"/>
              <a:chOff x="0" y="0"/>
              <a:chExt cx="1301513" cy="101243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01513" cy="1012439"/>
              </a:xfrm>
              <a:custGeom>
                <a:avLst/>
                <a:gdLst/>
                <a:ahLst/>
                <a:cxnLst/>
                <a:rect r="r" b="b" t="t" l="l"/>
                <a:pathLst>
                  <a:path h="1012439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956039"/>
                    </a:lnTo>
                    <a:cubicBezTo>
                      <a:pt x="1301513" y="987188"/>
                      <a:pt x="1276262" y="1012439"/>
                      <a:pt x="1245113" y="1012439"/>
                    </a:cubicBezTo>
                    <a:lnTo>
                      <a:pt x="56400" y="1012439"/>
                    </a:lnTo>
                    <a:cubicBezTo>
                      <a:pt x="25251" y="1012439"/>
                      <a:pt x="0" y="987188"/>
                      <a:pt x="0" y="956039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ln w="19050" cap="rnd">
                <a:solidFill>
                  <a:srgbClr val="0F042D"/>
                </a:soli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301513" cy="10124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67423" y="454522"/>
              <a:ext cx="5454063" cy="1342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b="true" sz="3727" spc="-167">
                  <a:solidFill>
                    <a:srgbClr val="EFEFE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Точность и безопасность</a:t>
              </a:r>
            </a:p>
          </p:txBody>
        </p:sp>
        <p:sp>
          <p:nvSpPr>
            <p:cNvPr name="AutoShape 41" id="41"/>
            <p:cNvSpPr/>
            <p:nvPr/>
          </p:nvSpPr>
          <p:spPr>
            <a:xfrm flipV="true">
              <a:off x="597662" y="2220800"/>
              <a:ext cx="5351616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597662" y="2620850"/>
              <a:ext cx="5420022" cy="2049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Многоступенчатая воронка поиска: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Декомпозиция (Que</a:t>
              </a: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ry Decomposition)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Движок Text-to-SQL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Защита от инъекций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Резервный поиск (Fallback)</a:t>
              </a:r>
            </a:p>
            <a:p>
              <a:pPr algn="l" marL="0" indent="0" lvl="0">
                <a:lnSpc>
                  <a:spcPts val="207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984537" y="505729"/>
            <a:ext cx="466757" cy="578475"/>
          </a:xfrm>
          <a:custGeom>
            <a:avLst/>
            <a:gdLst/>
            <a:ahLst/>
            <a:cxnLst/>
            <a:rect r="r" b="b" t="t" l="l"/>
            <a:pathLst>
              <a:path h="578475" w="466757">
                <a:moveTo>
                  <a:pt x="0" y="0"/>
                </a:moveTo>
                <a:lnTo>
                  <a:pt x="466757" y="0"/>
                </a:lnTo>
                <a:lnTo>
                  <a:pt x="466757" y="578475"/>
                </a:lnTo>
                <a:lnTo>
                  <a:pt x="0" y="578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7074179" y="5511396"/>
            <a:ext cx="4941681" cy="3746904"/>
            <a:chOff x="0" y="0"/>
            <a:chExt cx="6588908" cy="4995872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6588908" cy="4995872"/>
              <a:chOff x="0" y="0"/>
              <a:chExt cx="1301513" cy="98683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301513" cy="986839"/>
              </a:xfrm>
              <a:custGeom>
                <a:avLst/>
                <a:gdLst/>
                <a:ahLst/>
                <a:cxnLst/>
                <a:rect r="r" b="b" t="t" l="l"/>
                <a:pathLst>
                  <a:path h="986839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930439"/>
                    </a:lnTo>
                    <a:cubicBezTo>
                      <a:pt x="1301513" y="961588"/>
                      <a:pt x="1276262" y="986839"/>
                      <a:pt x="1245113" y="986839"/>
                    </a:cubicBezTo>
                    <a:lnTo>
                      <a:pt x="56400" y="986839"/>
                    </a:lnTo>
                    <a:cubicBezTo>
                      <a:pt x="25251" y="986839"/>
                      <a:pt x="0" y="961588"/>
                      <a:pt x="0" y="930439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ln w="19050" cap="rnd">
                <a:solidFill>
                  <a:srgbClr val="0F042D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1301513" cy="986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567423" y="454522"/>
              <a:ext cx="5454063" cy="1342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b="true" sz="3727" spc="-167">
                  <a:solidFill>
                    <a:srgbClr val="0F042D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Интерфейс и Верификация</a:t>
              </a:r>
            </a:p>
          </p:txBody>
        </p:sp>
        <p:sp>
          <p:nvSpPr>
            <p:cNvPr name="AutoShape 49" id="49"/>
            <p:cNvSpPr/>
            <p:nvPr/>
          </p:nvSpPr>
          <p:spPr>
            <a:xfrm flipV="true">
              <a:off x="597662" y="2220800"/>
              <a:ext cx="5351616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597662" y="2620850"/>
              <a:ext cx="5420022" cy="1706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Чат-ассистент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Дашборд аналитики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Выявл</a:t>
              </a: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ение пробелов (Ga</a:t>
              </a: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ps Analysis)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Визуальный Граф Знаний</a:t>
              </a:r>
            </a:p>
            <a:p>
              <a:pPr algn="l" marL="0" indent="0" lvl="0">
                <a:lnSpc>
                  <a:spcPts val="20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732757" y="2780483"/>
            <a:ext cx="4941681" cy="4604365"/>
            <a:chOff x="0" y="0"/>
            <a:chExt cx="6588908" cy="6139153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6588908" cy="6139153"/>
              <a:chOff x="0" y="0"/>
              <a:chExt cx="1301513" cy="121267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01513" cy="1212672"/>
              </a:xfrm>
              <a:custGeom>
                <a:avLst/>
                <a:gdLst/>
                <a:ahLst/>
                <a:cxnLst/>
                <a:rect r="r" b="b" t="t" l="l"/>
                <a:pathLst>
                  <a:path h="1212672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1156273"/>
                    </a:lnTo>
                    <a:cubicBezTo>
                      <a:pt x="1301513" y="1187421"/>
                      <a:pt x="1276262" y="1212672"/>
                      <a:pt x="1245113" y="1212672"/>
                    </a:cubicBezTo>
                    <a:lnTo>
                      <a:pt x="56400" y="1212672"/>
                    </a:lnTo>
                    <a:cubicBezTo>
                      <a:pt x="25251" y="1212672"/>
                      <a:pt x="0" y="1187421"/>
                      <a:pt x="0" y="1156273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ln w="19050" cap="rnd">
                <a:solidFill>
                  <a:srgbClr val="0F042D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1301513" cy="1212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567423" y="459592"/>
              <a:ext cx="5454063" cy="1342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b="true" sz="3727" spc="-167">
                  <a:solidFill>
                    <a:srgbClr val="EFEFE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Безопасность и инфраструктура</a:t>
              </a:r>
            </a:p>
          </p:txBody>
        </p:sp>
        <p:sp>
          <p:nvSpPr>
            <p:cNvPr name="AutoShape 56" id="56"/>
            <p:cNvSpPr/>
            <p:nvPr/>
          </p:nvSpPr>
          <p:spPr>
            <a:xfrm flipV="true">
              <a:off x="597662" y="2220800"/>
              <a:ext cx="5351616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597662" y="2620850"/>
              <a:ext cx="5420022" cy="3078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Полная суверенность: API Sber GigaChat.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Инфраструктура: Про</a:t>
              </a: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ект упакован в Dockerfile и разворачивается через docke</a:t>
              </a: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r-compose.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Оптимизация (SLA)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Кач</a:t>
              </a:r>
              <a:r>
                <a:rPr lang="en-US" sz="1599" i="true" spc="-51">
                  <a:solidFill>
                    <a:srgbClr val="EFEFEF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ество: Проект покрыт автоматическими тестами pytest для проверки безопасности.</a:t>
              </a:r>
            </a:p>
            <a:p>
              <a:pPr algn="l" marL="0" indent="0" lvl="0">
                <a:lnSpc>
                  <a:spcPts val="2079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true" flipV="false" rot="0">
            <a:off x="10092889" y="7289598"/>
            <a:ext cx="7315200" cy="2222635"/>
          </a:xfrm>
          <a:custGeom>
            <a:avLst/>
            <a:gdLst/>
            <a:ahLst/>
            <a:cxnLst/>
            <a:rect r="r" b="b" t="t" l="l"/>
            <a:pathLst>
              <a:path h="2222635" w="7315200">
                <a:moveTo>
                  <a:pt x="7315200" y="0"/>
                </a:moveTo>
                <a:lnTo>
                  <a:pt x="0" y="0"/>
                </a:lnTo>
                <a:lnTo>
                  <a:pt x="0" y="2222635"/>
                </a:lnTo>
                <a:lnTo>
                  <a:pt x="7315200" y="2222635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882215" y="1400525"/>
            <a:ext cx="3582239" cy="4437803"/>
          </a:xfrm>
          <a:custGeom>
            <a:avLst/>
            <a:gdLst/>
            <a:ahLst/>
            <a:cxnLst/>
            <a:rect r="r" b="b" t="t" l="l"/>
            <a:pathLst>
              <a:path h="4437803" w="3582239">
                <a:moveTo>
                  <a:pt x="0" y="0"/>
                </a:moveTo>
                <a:lnTo>
                  <a:pt x="3582239" y="0"/>
                </a:lnTo>
                <a:lnTo>
                  <a:pt x="3582239" y="4437803"/>
                </a:lnTo>
                <a:lnTo>
                  <a:pt x="0" y="443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4421703" y="677716"/>
            <a:ext cx="29317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4-5</a:t>
            </a: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июля, 2026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953770" y="677716"/>
            <a:ext cx="42792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Представлено</a:t>
            </a: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: Banana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126489" y="677716"/>
            <a:ext cx="2674881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Презентация</a:t>
            </a:r>
            <a:r>
              <a:rPr lang="en-US" b="true" sz="1700" spc="-76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ИИ‑решения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" y="1804262"/>
            <a:ext cx="8179830" cy="130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8"/>
              </a:lnSpc>
            </a:pPr>
            <a:r>
              <a:rPr lang="en-US" sz="9600" spc="-432" b="true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Инжиниринг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51294" y="695144"/>
            <a:ext cx="1784119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2100" spc="-94" b="true">
                <a:solidFill>
                  <a:srgbClr val="0F04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НОРНИКЕЛЬ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17916" y="3302223"/>
            <a:ext cx="5684654" cy="6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</a:pPr>
            <a:r>
              <a:rPr lang="en-US" b="true" sz="1999" i="true" spc="-63">
                <a:solidFill>
                  <a:srgbClr val="0F042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Б</a:t>
            </a:r>
            <a:r>
              <a:rPr lang="en-US" b="true" sz="1999" i="true" spc="-63">
                <a:solidFill>
                  <a:srgbClr val="0F042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ез точных данных вы — вс</a:t>
            </a:r>
            <a:r>
              <a:rPr lang="en-US" b="true" sz="1999" i="true" spc="-63">
                <a:solidFill>
                  <a:srgbClr val="0F042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его лишь еще</a:t>
            </a:r>
            <a:r>
              <a:rPr lang="en-US" b="true" sz="1999" i="true" spc="-63">
                <a:solidFill>
                  <a:srgbClr val="0F042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 один человек со своим субъективным мнением.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21918" y="4039281"/>
            <a:ext cx="6260297" cy="32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03"/>
              </a:lnSpc>
            </a:pPr>
            <a:r>
              <a:rPr lang="en-US" b="true" sz="2002" i="true" spc="-64">
                <a:solidFill>
                  <a:srgbClr val="0F042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Эдвард Деминг</a:t>
            </a:r>
          </a:p>
        </p:txBody>
      </p:sp>
      <p:sp>
        <p:nvSpPr>
          <p:cNvPr name="TextBox 67" id="67"/>
          <p:cNvSpPr txBox="true"/>
          <p:nvPr/>
        </p:nvSpPr>
        <p:spPr>
          <a:xfrm rot="-176146">
            <a:off x="15913150" y="7896817"/>
            <a:ext cx="1134254" cy="115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6"/>
              </a:lnSpc>
            </a:pPr>
            <a:r>
              <a:rPr lang="en-US" b="true" sz="8384" spc="-377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AI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676327" y="677716"/>
            <a:ext cx="2430290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Площадка презентаций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67036" y="505729"/>
            <a:ext cx="3041054" cy="502851"/>
            <a:chOff x="0" y="0"/>
            <a:chExt cx="2457754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7754" cy="406400"/>
            </a:xfrm>
            <a:custGeom>
              <a:avLst/>
              <a:gdLst/>
              <a:ahLst/>
              <a:cxnLst/>
              <a:rect r="r" b="b" t="t" l="l"/>
              <a:pathLst>
                <a:path h="406400" w="2457754">
                  <a:moveTo>
                    <a:pt x="2254554" y="0"/>
                  </a:moveTo>
                  <a:cubicBezTo>
                    <a:pt x="2366778" y="0"/>
                    <a:pt x="2457754" y="90976"/>
                    <a:pt x="2457754" y="203200"/>
                  </a:cubicBezTo>
                  <a:cubicBezTo>
                    <a:pt x="2457754" y="315424"/>
                    <a:pt x="2366778" y="406400"/>
                    <a:pt x="2254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45775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3770" y="505729"/>
            <a:ext cx="4279219" cy="502851"/>
            <a:chOff x="0" y="0"/>
            <a:chExt cx="3458428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8428" cy="406400"/>
            </a:xfrm>
            <a:custGeom>
              <a:avLst/>
              <a:gdLst/>
              <a:ahLst/>
              <a:cxnLst/>
              <a:rect r="r" b="b" t="t" l="l"/>
              <a:pathLst>
                <a:path h="406400" w="3458428">
                  <a:moveTo>
                    <a:pt x="3255228" y="0"/>
                  </a:moveTo>
                  <a:cubicBezTo>
                    <a:pt x="3367453" y="0"/>
                    <a:pt x="3458428" y="90976"/>
                    <a:pt x="3458428" y="203200"/>
                  </a:cubicBezTo>
                  <a:cubicBezTo>
                    <a:pt x="3458428" y="315424"/>
                    <a:pt x="3367453" y="406400"/>
                    <a:pt x="32552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58428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87567" y="505729"/>
            <a:ext cx="2732854" cy="502851"/>
            <a:chOff x="0" y="0"/>
            <a:chExt cx="220866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8669" cy="406400"/>
            </a:xfrm>
            <a:custGeom>
              <a:avLst/>
              <a:gdLst/>
              <a:ahLst/>
              <a:cxnLst/>
              <a:rect r="r" b="b" t="t" l="l"/>
              <a:pathLst>
                <a:path h="406400" w="2208669">
                  <a:moveTo>
                    <a:pt x="2005469" y="0"/>
                  </a:moveTo>
                  <a:cubicBezTo>
                    <a:pt x="2117693" y="0"/>
                    <a:pt x="2208669" y="90976"/>
                    <a:pt x="2208669" y="203200"/>
                  </a:cubicBezTo>
                  <a:cubicBezTo>
                    <a:pt x="2208669" y="315424"/>
                    <a:pt x="2117693" y="406400"/>
                    <a:pt x="20054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FEFE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0866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7277" y="505729"/>
            <a:ext cx="3625880" cy="502851"/>
            <a:chOff x="0" y="0"/>
            <a:chExt cx="293040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0405" cy="406400"/>
            </a:xfrm>
            <a:custGeom>
              <a:avLst/>
              <a:gdLst/>
              <a:ahLst/>
              <a:cxnLst/>
              <a:rect r="r" b="b" t="t" l="l"/>
              <a:pathLst>
                <a:path h="406400" w="2930405">
                  <a:moveTo>
                    <a:pt x="2727205" y="0"/>
                  </a:moveTo>
                  <a:cubicBezTo>
                    <a:pt x="2839429" y="0"/>
                    <a:pt x="2930405" y="90976"/>
                    <a:pt x="2930405" y="203200"/>
                  </a:cubicBezTo>
                  <a:cubicBezTo>
                    <a:pt x="2930405" y="315424"/>
                    <a:pt x="2839429" y="406400"/>
                    <a:pt x="272720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930405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421703" y="677716"/>
            <a:ext cx="29317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4-5 июля,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53770" y="677716"/>
            <a:ext cx="4279219" cy="21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800" spc="-81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Представлено: Banana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36014" y="677716"/>
            <a:ext cx="2674881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0F042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Презентация ИИ‑решения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193450" y="3196155"/>
            <a:ext cx="18674901" cy="7378284"/>
            <a:chOff x="0" y="0"/>
            <a:chExt cx="24899868" cy="983771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FEFEF">
                      <a:alpha val="0"/>
                    </a:srgbClr>
                  </a:gs>
                  <a:gs pos="50000">
                    <a:srgbClr val="EFEFEF">
                      <a:alpha val="7500"/>
                    </a:srgbClr>
                  </a:gs>
                  <a:gs pos="100000">
                    <a:srgbClr val="EFEFEF">
                      <a:alpha val="20000"/>
                    </a:srgbClr>
                  </a:gs>
                </a:gsLst>
                <a:lin ang="540000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4508190" y="4173414"/>
            <a:ext cx="4375696" cy="5423766"/>
            <a:chOff x="0" y="0"/>
            <a:chExt cx="617628" cy="7655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7628" cy="765563"/>
            </a:xfrm>
            <a:custGeom>
              <a:avLst/>
              <a:gdLst/>
              <a:ahLst/>
              <a:cxnLst/>
              <a:rect r="r" b="b" t="t" l="l"/>
              <a:pathLst>
                <a:path h="765563" w="617628">
                  <a:moveTo>
                    <a:pt x="63695" y="0"/>
                  </a:moveTo>
                  <a:lnTo>
                    <a:pt x="553934" y="0"/>
                  </a:lnTo>
                  <a:cubicBezTo>
                    <a:pt x="589111" y="0"/>
                    <a:pt x="617628" y="28517"/>
                    <a:pt x="617628" y="63695"/>
                  </a:cubicBezTo>
                  <a:lnTo>
                    <a:pt x="617628" y="701868"/>
                  </a:lnTo>
                  <a:cubicBezTo>
                    <a:pt x="617628" y="737046"/>
                    <a:pt x="589111" y="765563"/>
                    <a:pt x="553934" y="765563"/>
                  </a:cubicBezTo>
                  <a:lnTo>
                    <a:pt x="63695" y="765563"/>
                  </a:lnTo>
                  <a:cubicBezTo>
                    <a:pt x="28517" y="765563"/>
                    <a:pt x="0" y="737046"/>
                    <a:pt x="0" y="701868"/>
                  </a:cubicBezTo>
                  <a:lnTo>
                    <a:pt x="0" y="63695"/>
                  </a:lnTo>
                  <a:cubicBezTo>
                    <a:pt x="0" y="28517"/>
                    <a:pt x="28517" y="0"/>
                    <a:pt x="63695" y="0"/>
                  </a:cubicBezTo>
                  <a:close/>
                </a:path>
              </a:pathLst>
            </a:custGeom>
            <a:blipFill>
              <a:blip r:embed="rId2">
                <a:alphaModFix amt="31000"/>
              </a:blip>
              <a:stretch>
                <a:fillRect l="0" t="0" r="-23952" b="0"/>
              </a:stretch>
            </a:blipFill>
            <a:ln w="9525" cap="rnd">
              <a:solidFill>
                <a:srgbClr val="EFEFEF">
                  <a:alpha val="30980"/>
                </a:srgbClr>
              </a:solidFill>
              <a:prstDash val="solid"/>
              <a:round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04113" y="4173414"/>
            <a:ext cx="4375696" cy="5423766"/>
            <a:chOff x="0" y="0"/>
            <a:chExt cx="617628" cy="7655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7628" cy="765563"/>
            </a:xfrm>
            <a:custGeom>
              <a:avLst/>
              <a:gdLst/>
              <a:ahLst/>
              <a:cxnLst/>
              <a:rect r="r" b="b" t="t" l="l"/>
              <a:pathLst>
                <a:path h="765563" w="617628">
                  <a:moveTo>
                    <a:pt x="63695" y="0"/>
                  </a:moveTo>
                  <a:lnTo>
                    <a:pt x="553934" y="0"/>
                  </a:lnTo>
                  <a:cubicBezTo>
                    <a:pt x="589111" y="0"/>
                    <a:pt x="617628" y="28517"/>
                    <a:pt x="617628" y="63695"/>
                  </a:cubicBezTo>
                  <a:lnTo>
                    <a:pt x="617628" y="701868"/>
                  </a:lnTo>
                  <a:cubicBezTo>
                    <a:pt x="617628" y="737046"/>
                    <a:pt x="589111" y="765563"/>
                    <a:pt x="553934" y="765563"/>
                  </a:cubicBezTo>
                  <a:lnTo>
                    <a:pt x="63695" y="765563"/>
                  </a:lnTo>
                  <a:cubicBezTo>
                    <a:pt x="28517" y="765563"/>
                    <a:pt x="0" y="737046"/>
                    <a:pt x="0" y="701868"/>
                  </a:cubicBezTo>
                  <a:lnTo>
                    <a:pt x="0" y="63695"/>
                  </a:lnTo>
                  <a:cubicBezTo>
                    <a:pt x="0" y="28517"/>
                    <a:pt x="28517" y="0"/>
                    <a:pt x="63695" y="0"/>
                  </a:cubicBezTo>
                  <a:close/>
                </a:path>
              </a:pathLst>
            </a:custGeom>
            <a:blipFill>
              <a:blip r:embed="rId2">
                <a:alphaModFix amt="31000"/>
              </a:blip>
              <a:stretch>
                <a:fillRect l="-23952" t="0" r="0" b="0"/>
              </a:stretch>
            </a:blipFill>
            <a:ln w="9525" cap="rnd">
              <a:solidFill>
                <a:srgbClr val="EFEFEF">
                  <a:alpha val="30980"/>
                </a:srgbClr>
              </a:solidFill>
              <a:prstDash val="solid"/>
              <a:round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778316" y="3969269"/>
            <a:ext cx="6731368" cy="5832055"/>
            <a:chOff x="0" y="0"/>
            <a:chExt cx="843839" cy="7311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3839" cy="731102"/>
            </a:xfrm>
            <a:custGeom>
              <a:avLst/>
              <a:gdLst/>
              <a:ahLst/>
              <a:cxnLst/>
              <a:rect r="r" b="b" t="t" l="l"/>
              <a:pathLst>
                <a:path h="731102" w="843839">
                  <a:moveTo>
                    <a:pt x="41405" y="0"/>
                  </a:moveTo>
                  <a:lnTo>
                    <a:pt x="802435" y="0"/>
                  </a:lnTo>
                  <a:cubicBezTo>
                    <a:pt x="825302" y="0"/>
                    <a:pt x="843839" y="18537"/>
                    <a:pt x="843839" y="41405"/>
                  </a:cubicBezTo>
                  <a:lnTo>
                    <a:pt x="843839" y="689697"/>
                  </a:lnTo>
                  <a:cubicBezTo>
                    <a:pt x="843839" y="700679"/>
                    <a:pt x="839477" y="711210"/>
                    <a:pt x="831712" y="718975"/>
                  </a:cubicBezTo>
                  <a:cubicBezTo>
                    <a:pt x="823947" y="726740"/>
                    <a:pt x="813416" y="731102"/>
                    <a:pt x="802435" y="731102"/>
                  </a:cubicBezTo>
                  <a:lnTo>
                    <a:pt x="41405" y="731102"/>
                  </a:lnTo>
                  <a:cubicBezTo>
                    <a:pt x="30423" y="731102"/>
                    <a:pt x="19892" y="726740"/>
                    <a:pt x="12127" y="718975"/>
                  </a:cubicBezTo>
                  <a:cubicBezTo>
                    <a:pt x="4362" y="711210"/>
                    <a:pt x="0" y="700679"/>
                    <a:pt x="0" y="689697"/>
                  </a:cubicBezTo>
                  <a:lnTo>
                    <a:pt x="0" y="41405"/>
                  </a:lnTo>
                  <a:cubicBezTo>
                    <a:pt x="0" y="30423"/>
                    <a:pt x="4362" y="19892"/>
                    <a:pt x="12127" y="12127"/>
                  </a:cubicBezTo>
                  <a:cubicBezTo>
                    <a:pt x="19892" y="4362"/>
                    <a:pt x="30423" y="0"/>
                    <a:pt x="4140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355" r="0" b="-356"/>
              </a:stretch>
            </a:blipFill>
            <a:ln w="9525" cap="rnd">
              <a:solidFill>
                <a:srgbClr val="EFEFEF"/>
              </a:solidFill>
              <a:prstDash val="solid"/>
              <a:round/>
            </a:ln>
          </p:spPr>
        </p:sp>
      </p:grpSp>
      <p:grpSp>
        <p:nvGrpSpPr>
          <p:cNvPr name="Group 45" id="45"/>
          <p:cNvGrpSpPr/>
          <p:nvPr/>
        </p:nvGrpSpPr>
        <p:grpSpPr>
          <a:xfrm rot="-10800000">
            <a:off x="0" y="0"/>
            <a:ext cx="18674901" cy="7378284"/>
            <a:chOff x="0" y="0"/>
            <a:chExt cx="24899868" cy="9837711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4427815"/>
              <a:ext cx="3558057" cy="5409897"/>
              <a:chOff x="0" y="0"/>
              <a:chExt cx="812800" cy="123583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1341811" y="4427815"/>
              <a:ext cx="3558057" cy="5409897"/>
              <a:chOff x="0" y="0"/>
              <a:chExt cx="812800" cy="123583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1235833"/>
              </a:xfrm>
              <a:custGeom>
                <a:avLst/>
                <a:gdLst/>
                <a:ahLst/>
                <a:cxnLst/>
                <a:rect r="r" b="b" t="t" l="l"/>
                <a:pathLst>
                  <a:path h="123583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235833"/>
                    </a:lnTo>
                    <a:lnTo>
                      <a:pt x="0" y="12358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0"/>
                <a:ext cx="812800" cy="12358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3558057" y="3198827"/>
              <a:ext cx="3558057" cy="6638885"/>
              <a:chOff x="0" y="0"/>
              <a:chExt cx="812800" cy="1516582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7783754" y="3198827"/>
              <a:ext cx="3558057" cy="6638885"/>
              <a:chOff x="0" y="0"/>
              <a:chExt cx="812800" cy="1516582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1516582"/>
              </a:xfrm>
              <a:custGeom>
                <a:avLst/>
                <a:gdLst/>
                <a:ahLst/>
                <a:cxnLst/>
                <a:rect r="r" b="b" t="t" l="l"/>
                <a:pathLst>
                  <a:path h="151658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16582"/>
                    </a:lnTo>
                    <a:lnTo>
                      <a:pt x="0" y="151658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0"/>
                <a:ext cx="812800" cy="1516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7116114" y="1874177"/>
              <a:ext cx="3558057" cy="7963534"/>
              <a:chOff x="0" y="0"/>
              <a:chExt cx="812800" cy="1819184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14232228" y="1874177"/>
              <a:ext cx="3558057" cy="7963534"/>
              <a:chOff x="0" y="0"/>
              <a:chExt cx="812800" cy="1819184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1819184"/>
              </a:xfrm>
              <a:custGeom>
                <a:avLst/>
                <a:gdLst/>
                <a:ahLst/>
                <a:cxnLst/>
                <a:rect r="r" b="b" t="t" l="l"/>
                <a:pathLst>
                  <a:path h="1819184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9184"/>
                    </a:lnTo>
                    <a:lnTo>
                      <a:pt x="0" y="18191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0"/>
                <a:ext cx="812800" cy="1819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8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0674171" y="0"/>
              <a:ext cx="3558057" cy="9837711"/>
              <a:chOff x="0" y="0"/>
              <a:chExt cx="812800" cy="224732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2247320"/>
              </a:xfrm>
              <a:custGeom>
                <a:avLst/>
                <a:gdLst/>
                <a:ahLst/>
                <a:cxnLst/>
                <a:rect r="r" b="b" t="t" l="l"/>
                <a:pathLst>
                  <a:path h="224732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47320"/>
                    </a:lnTo>
                    <a:lnTo>
                      <a:pt x="0" y="224732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05BF4">
                      <a:alpha val="0"/>
                    </a:srgbClr>
                  </a:gs>
                  <a:gs pos="50000">
                    <a:srgbClr val="905BF4">
                      <a:alpha val="9310"/>
                    </a:srgbClr>
                  </a:gs>
                  <a:gs pos="100000">
                    <a:srgbClr val="905BF4">
                      <a:alpha val="24500"/>
                    </a:srgbClr>
                  </a:gs>
                </a:gsLst>
                <a:lin ang="5400000"/>
              </a:gra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812800" cy="22473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</p:grpSp>
      <p:sp>
        <p:nvSpPr>
          <p:cNvPr name="Freeform 67" id="67"/>
          <p:cNvSpPr/>
          <p:nvPr/>
        </p:nvSpPr>
        <p:spPr>
          <a:xfrm flipH="false" flipV="false" rot="0">
            <a:off x="984537" y="505729"/>
            <a:ext cx="466757" cy="578475"/>
          </a:xfrm>
          <a:custGeom>
            <a:avLst/>
            <a:gdLst/>
            <a:ahLst/>
            <a:cxnLst/>
            <a:rect r="r" b="b" t="t" l="l"/>
            <a:pathLst>
              <a:path h="578475" w="466757">
                <a:moveTo>
                  <a:pt x="0" y="0"/>
                </a:moveTo>
                <a:lnTo>
                  <a:pt x="466757" y="0"/>
                </a:lnTo>
                <a:lnTo>
                  <a:pt x="466757" y="578475"/>
                </a:lnTo>
                <a:lnTo>
                  <a:pt x="0" y="57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3634092" y="1313828"/>
            <a:ext cx="2368922" cy="2368922"/>
          </a:xfrm>
          <a:custGeom>
            <a:avLst/>
            <a:gdLst/>
            <a:ahLst/>
            <a:cxnLst/>
            <a:rect r="r" b="b" t="t" l="l"/>
            <a:pathLst>
              <a:path h="2368922" w="2368922">
                <a:moveTo>
                  <a:pt x="0" y="0"/>
                </a:moveTo>
                <a:lnTo>
                  <a:pt x="2368922" y="0"/>
                </a:lnTo>
                <a:lnTo>
                  <a:pt x="2368922" y="2368922"/>
                </a:lnTo>
                <a:lnTo>
                  <a:pt x="0" y="2368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526062" y="3682750"/>
            <a:ext cx="4941681" cy="3350250"/>
            <a:chOff x="0" y="0"/>
            <a:chExt cx="6588908" cy="4467000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588908" cy="4467000"/>
              <a:chOff x="0" y="0"/>
              <a:chExt cx="1301513" cy="88237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301513" cy="882370"/>
              </a:xfrm>
              <a:custGeom>
                <a:avLst/>
                <a:gdLst/>
                <a:ahLst/>
                <a:cxnLst/>
                <a:rect r="r" b="b" t="t" l="l"/>
                <a:pathLst>
                  <a:path h="882370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825971"/>
                    </a:lnTo>
                    <a:cubicBezTo>
                      <a:pt x="1301513" y="857119"/>
                      <a:pt x="1276262" y="882370"/>
                      <a:pt x="1245113" y="882370"/>
                    </a:cubicBezTo>
                    <a:lnTo>
                      <a:pt x="56400" y="882370"/>
                    </a:lnTo>
                    <a:cubicBezTo>
                      <a:pt x="25251" y="882370"/>
                      <a:pt x="0" y="857119"/>
                      <a:pt x="0" y="825971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 w="19050" cap="rnd">
                <a:gradFill>
                  <a:gsLst>
                    <a:gs pos="0">
                      <a:srgbClr val="573F9D">
                        <a:alpha val="100000"/>
                      </a:srgbClr>
                    </a:gs>
                    <a:gs pos="50000">
                      <a:srgbClr val="332069">
                        <a:alpha val="100000"/>
                      </a:srgbClr>
                    </a:gs>
                    <a:gs pos="100000">
                      <a:srgbClr val="0F042D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0"/>
                <a:ext cx="1301513" cy="882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AutoShape 73" id="73"/>
            <p:cNvSpPr/>
            <p:nvPr/>
          </p:nvSpPr>
          <p:spPr>
            <a:xfrm flipV="true">
              <a:off x="601464" y="1644008"/>
              <a:ext cx="5351616" cy="0"/>
            </a:xfrm>
            <a:prstGeom prst="line">
              <a:avLst/>
            </a:prstGeom>
            <a:ln cap="flat" w="25400">
              <a:solidFill>
                <a:srgbClr val="0F042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4" id="74"/>
            <p:cNvSpPr txBox="true"/>
            <p:nvPr/>
          </p:nvSpPr>
          <p:spPr>
            <a:xfrm rot="0">
              <a:off x="601464" y="2044058"/>
              <a:ext cx="5420022" cy="2049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Успешно обработано 39 научно-технических документов.</a:t>
              </a:r>
            </a:p>
            <a:p>
              <a:pPr algn="l" marL="345439" indent="-172720" lvl="1">
                <a:lnSpc>
                  <a:spcPts val="2079"/>
                </a:lnSpc>
                <a:buFont typeface="Arial"/>
                <a:buChar char="•"/>
              </a:pPr>
              <a:r>
                <a:rPr lang="en-US" sz="1599" i="true" spc="-51">
                  <a:solidFill>
                    <a:srgbClr val="0F042D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В базу знаний извлечено и записано более 10000 фактов и 17000 точных параметров.</a:t>
              </a:r>
            </a:p>
            <a:p>
              <a:pPr algn="l" marL="0" indent="0" lvl="0">
                <a:lnSpc>
                  <a:spcPts val="2079"/>
                </a:lnSpc>
              </a:pP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567423" y="528538"/>
              <a:ext cx="5454063" cy="69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39"/>
                </a:lnSpc>
              </a:pPr>
              <a:r>
                <a:rPr lang="en-US" sz="3727" spc="-167" b="true">
                  <a:solidFill>
                    <a:srgbClr val="0F042D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MVP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824009" y="3682750"/>
            <a:ext cx="4941681" cy="3350250"/>
            <a:chOff x="0" y="0"/>
            <a:chExt cx="6588908" cy="4467000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0" y="0"/>
              <a:ext cx="6588908" cy="4467000"/>
              <a:chOff x="0" y="0"/>
              <a:chExt cx="1301513" cy="88237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301513" cy="882370"/>
              </a:xfrm>
              <a:custGeom>
                <a:avLst/>
                <a:gdLst/>
                <a:ahLst/>
                <a:cxnLst/>
                <a:rect r="r" b="b" t="t" l="l"/>
                <a:pathLst>
                  <a:path h="882370" w="1301513">
                    <a:moveTo>
                      <a:pt x="56400" y="0"/>
                    </a:moveTo>
                    <a:lnTo>
                      <a:pt x="1245113" y="0"/>
                    </a:lnTo>
                    <a:cubicBezTo>
                      <a:pt x="1276262" y="0"/>
                      <a:pt x="1301513" y="25251"/>
                      <a:pt x="1301513" y="56400"/>
                    </a:cubicBezTo>
                    <a:lnTo>
                      <a:pt x="1301513" y="825971"/>
                    </a:lnTo>
                    <a:cubicBezTo>
                      <a:pt x="1301513" y="857119"/>
                      <a:pt x="1276262" y="882370"/>
                      <a:pt x="1245113" y="882370"/>
                    </a:cubicBezTo>
                    <a:lnTo>
                      <a:pt x="56400" y="882370"/>
                    </a:lnTo>
                    <a:cubicBezTo>
                      <a:pt x="25251" y="882370"/>
                      <a:pt x="0" y="857119"/>
                      <a:pt x="0" y="825971"/>
                    </a:cubicBezTo>
                    <a:lnTo>
                      <a:pt x="0" y="56400"/>
                    </a:lnTo>
                    <a:cubicBezTo>
                      <a:pt x="0" y="25251"/>
                      <a:pt x="25251" y="0"/>
                      <a:pt x="5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73F9D">
                      <a:alpha val="100000"/>
                    </a:srgbClr>
                  </a:gs>
                  <a:gs pos="50000">
                    <a:srgbClr val="332069">
                      <a:alpha val="100000"/>
                    </a:srgbClr>
                  </a:gs>
                  <a:gs pos="100000">
                    <a:srgbClr val="0F042D">
                      <a:alpha val="100000"/>
                    </a:srgbClr>
                  </a:gs>
                </a:gsLst>
                <a:lin ang="2700000"/>
              </a:gradFill>
              <a:ln w="19050" cap="rnd">
                <a:solidFill>
                  <a:srgbClr val="EFEFEF"/>
                </a:solidFill>
                <a:prstDash val="solid"/>
                <a:round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0"/>
                <a:ext cx="1301513" cy="8823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6"/>
                  </a:lnSpc>
                </a:pPr>
              </a:p>
            </p:txBody>
          </p:sp>
        </p:grpSp>
        <p:sp>
          <p:nvSpPr>
            <p:cNvPr name="AutoShape 80" id="80"/>
            <p:cNvSpPr/>
            <p:nvPr/>
          </p:nvSpPr>
          <p:spPr>
            <a:xfrm flipV="true">
              <a:off x="614164" y="1669248"/>
              <a:ext cx="5351616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1" id="81"/>
            <p:cNvSpPr txBox="true"/>
            <p:nvPr/>
          </p:nvSpPr>
          <p:spPr>
            <a:xfrm rot="0">
              <a:off x="614164" y="2069298"/>
              <a:ext cx="5420022" cy="1363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79"/>
                </a:lnSpc>
              </a:pPr>
              <a:r>
                <a:rPr lang="en-US" sz="1599" i="true" spc="-51">
                  <a:solidFill>
                    <a:srgbClr val="B8B8B8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Схема</a:t>
              </a:r>
              <a:r>
                <a:rPr lang="en-US" sz="1599" i="true" spc="-51">
                  <a:solidFill>
                    <a:srgbClr val="B8B8B8"/>
                  </a:solidFill>
                  <a:latin typeface="Aileron Italics"/>
                  <a:ea typeface="Aileron Italics"/>
                  <a:cs typeface="Aileron Italics"/>
                  <a:sym typeface="Aileron Italics"/>
                </a:rPr>
                <a:t> данных Pydantic легко расширяется на новые технологические домены (обогащение, гидрометаллургия, экология) без переписывания архитектуры.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580123" y="553779"/>
              <a:ext cx="5454063" cy="653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5"/>
                </a:lnSpc>
              </a:pPr>
              <a:r>
                <a:rPr lang="en-US" sz="3500" spc="-157" b="true">
                  <a:solidFill>
                    <a:srgbClr val="EFEFE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Масштабируемость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294783" y="2363784"/>
            <a:ext cx="17698434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 spc="-432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Результаты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51294" y="695144"/>
            <a:ext cx="1784119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b="true" sz="2100" spc="-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НОРНИКЕЛЬ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676327" y="677716"/>
            <a:ext cx="2430290" cy="1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b="true" sz="1700" spc="-76">
                <a:solidFill>
                  <a:srgbClr val="EFEFE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Площадка презентаций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DAHOdSF-Agc</dc:identifier>
  <dcterms:modified xsi:type="dcterms:W3CDTF">2011-08-01T06:04:30Z</dcterms:modified>
  <cp:revision>1</cp:revision>
  <dc:title>Nornikel_hack</dc:title>
</cp:coreProperties>
</file>